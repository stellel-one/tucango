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15"/>
  </p:notesMasterIdLst>
  <p:handoutMasterIdLst>
    <p:handoutMasterId r:id="rId16"/>
  </p:handoutMasterIdLst>
  <p:sldIdLst>
    <p:sldId id="567" r:id="rId2"/>
    <p:sldId id="572" r:id="rId3"/>
    <p:sldId id="583" r:id="rId4"/>
    <p:sldId id="574" r:id="rId5"/>
    <p:sldId id="575" r:id="rId6"/>
    <p:sldId id="576" r:id="rId7"/>
    <p:sldId id="577" r:id="rId8"/>
    <p:sldId id="578" r:id="rId9"/>
    <p:sldId id="579" r:id="rId10"/>
    <p:sldId id="580" r:id="rId11"/>
    <p:sldId id="581" r:id="rId12"/>
    <p:sldId id="582" r:id="rId13"/>
    <p:sldId id="573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1" roundtripDataSignature="AMtx7mhHMhIhsSs71d5qpWODHjcpl/yA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50E"/>
    <a:srgbClr val="000000"/>
    <a:srgbClr val="FFC000"/>
    <a:srgbClr val="94C11E"/>
    <a:srgbClr val="196B24"/>
    <a:srgbClr val="306338"/>
    <a:srgbClr val="E97132"/>
    <a:srgbClr val="4EA72E"/>
    <a:srgbClr val="FFFFFF"/>
    <a:srgbClr val="0055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17" dt="2026-09-08T01:22:57.108"/>
  </p1510:revLst>
</p1510:revInfo>
</file>

<file path=ppt/tableStyles.xml><?xml version="1.0" encoding="utf-8"?>
<a:tblStyleLst xmlns:a="http://schemas.openxmlformats.org/drawingml/2006/main" def="{3A2E96EF-BC0E-4F12-A881-8A1F9BE32070}">
  <a:tblStyle styleId="{3A2E96EF-BC0E-4F12-A881-8A1F9BE320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2BF10DC-F2B7-4BB5-B154-6226BCE73786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C031F8-16E1-41BF-8158-95DF9EF60F22}" styleName="Table_2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494" autoAdjust="0"/>
  </p:normalViewPr>
  <p:slideViewPr>
    <p:cSldViewPr snapToGrid="0">
      <p:cViewPr varScale="1">
        <p:scale>
          <a:sx n="103" d="100"/>
          <a:sy n="103" d="100"/>
        </p:scale>
        <p:origin x="59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21" Type="http://customschemas.google.com/relationships/presentationmetadata" Target="metadata"/><Relationship Id="rId3" Type="http://schemas.openxmlformats.org/officeDocument/2006/relationships/slide" Target="slides/slide2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24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126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D5D592F-549B-EB17-9B6F-2B5230739C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0787E9-73FE-79E5-0F05-DCD1DCA6264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16E3F-A1A2-40A0-B9A7-462EA52B02D6}" type="datetimeFigureOut">
              <a:rPr lang="es-CO" smtClean="0"/>
              <a:t>7/09/2026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3FE569B-CDB3-093A-F7C2-F61D6E8ADE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CO"/>
              <a:t>2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0AD59C6-DE37-B487-41E9-C80CA4BE82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B303DB-4ED4-4990-835B-0D261D76AFD6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63630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O"/>
              <a:t>2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5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11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00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13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17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7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73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1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16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seño personalizado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331368" y="265336"/>
            <a:ext cx="8803754" cy="99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  <a:defRPr sz="2400" b="1" i="0" u="none" strike="noStrike" cap="none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66CC01-4505-FE2C-DDEA-8AA1C8E6B1FE}"/>
              </a:ext>
            </a:extLst>
          </p:cNvPr>
          <p:cNvSpPr/>
          <p:nvPr/>
        </p:nvSpPr>
        <p:spPr>
          <a:xfrm>
            <a:off x="8381999" y="6590718"/>
            <a:ext cx="3590926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CB12AFA-0842-0D37-A347-D8DC408F9C8D}"/>
              </a:ext>
            </a:extLst>
          </p:cNvPr>
          <p:cNvSpPr/>
          <p:nvPr/>
        </p:nvSpPr>
        <p:spPr>
          <a:xfrm>
            <a:off x="9455150" y="127000"/>
            <a:ext cx="2438400" cy="698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F8A001-52BB-7BBC-C456-370E506D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847" y="225390"/>
            <a:ext cx="2649128" cy="64928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294AE69-8A05-39D8-F4C2-FC628C4385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865"/>
          <a:stretch>
            <a:fillRect/>
          </a:stretch>
        </p:blipFill>
        <p:spPr>
          <a:xfrm>
            <a:off x="8555332" y="6513898"/>
            <a:ext cx="2957075" cy="319608"/>
          </a:xfrm>
          <a:prstGeom prst="rect">
            <a:avLst/>
          </a:prstGeom>
        </p:spPr>
      </p:pic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BE2EEAA7-7E32-898F-CAD9-EE4139758C11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10487025" y="6559550"/>
            <a:ext cx="1422400" cy="243417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5062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3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</p:sldLayoutIdLst>
  <p:hf hd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6714-41D5-990D-C32E-DD99BC1F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z="3000" b="1">
                <a:solidFill>
                  <a:srgbClr val="0B7238"/>
                </a:solidFill>
                <a:latin typeface="Arial"/>
              </a:rPr>
              <a:t>TUCANGO |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2DDE2C-7753-C136-8F93-91455CC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694944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INGENIERÍA DE SISTEMAS · UNIVERSIDAD DE LA AMAZONIA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3504" y="1810512"/>
            <a:ext cx="0" cy="2423160"/>
          </a:xfrm>
          <a:prstGeom prst="line">
            <a:avLst/>
          </a:prstGeom>
          <a:ln w="635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1755648"/>
            <a:ext cx="6766560" cy="14173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3700" b="1" i="0">
                <a:solidFill>
                  <a:srgbClr val="182E26"/>
                </a:solidFill>
                <a:latin typeface="Arial"/>
              </a:rPr>
              <a:t>Movilidad estudiantil</a:t>
            </a:r>
            <a:br/>
            <a:r>
              <a:rPr sz="3700" b="1" i="0">
                <a:solidFill>
                  <a:srgbClr val="182E26"/>
                </a:solidFill>
                <a:latin typeface="Arial"/>
              </a:rPr>
              <a:t>segura en el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310128"/>
            <a:ext cx="6400800" cy="7132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5F6B65"/>
                </a:solidFill>
                <a:latin typeface="Arial"/>
              </a:rPr>
              <a:t>Sistema de confianza y trazabilidad para transporte en motocicleta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7400" y="110744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VERIFICACIÓN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25688" y="1537208"/>
            <a:ext cx="2423160" cy="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07400" y="193040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TRAZABILIDAD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25688" y="2360168"/>
            <a:ext cx="2423160" cy="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07400" y="2753360"/>
            <a:ext cx="28346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7238"/>
                </a:solidFill>
                <a:latin typeface="Arial"/>
              </a:rPr>
              <a:t>REPUTACIÓN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10912"/>
            <a:ext cx="9875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82E26"/>
                </a:solidFill>
                <a:latin typeface="Arial"/>
              </a:rPr>
              <a:t>Equipo: Jhonatan A. Saavedra · Gian M. Castañeda · Andrés D. Pinilla · Juan G. Ferrer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77840"/>
            <a:ext cx="49377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github.com/Stellel-One/TucanGo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BFB7696-0BC7-64AE-4F83-6FBBEE475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3200400"/>
            <a:ext cx="2834640" cy="27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6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sz="3000" b="1">
                <a:solidFill>
                  <a:srgbClr val="0B7238"/>
                </a:solidFill>
                <a:latin typeface="Arial"/>
              </a:rPr>
              <a:t>El problema no es la movilidad; es la falta de confianza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61872"/>
            <a:ext cx="10744200" cy="60350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82E26"/>
                </a:solidFill>
                <a:latin typeface="Arial"/>
              </a:rPr>
              <a:t>El mototaxi es una opción principal para la comunidad estudiantil, pero opera sin controles ni garantías verificables.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09160" y="2029968"/>
            <a:ext cx="0" cy="3520440"/>
          </a:xfrm>
          <a:prstGeom prst="line">
            <a:avLst/>
          </a:prstGeom>
          <a:ln w="381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2148840"/>
            <a:ext cx="3611880" cy="7498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B7238"/>
                </a:solidFill>
                <a:latin typeface="Arial"/>
              </a:rPr>
              <a:t>DOS REALIDADES</a:t>
            </a:r>
            <a:br/>
            <a:r>
              <a:rPr sz="2500" b="1" i="0">
                <a:solidFill>
                  <a:srgbClr val="0B7238"/>
                </a:solidFill>
                <a:latin typeface="Arial"/>
              </a:rPr>
              <a:t>PARALELAS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72384"/>
            <a:ext cx="338328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Comunidad universitaria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47872"/>
            <a:ext cx="338328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Transporte informal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97680"/>
            <a:ext cx="3657600" cy="9601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82E26"/>
                </a:solidFill>
                <a:latin typeface="Arial"/>
              </a:rPr>
              <a:t>TucanGo las conecta mediante verificación, trazabilidad y reputación.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0482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01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Sin registro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1848" y="23682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No existe identificación verificada de quien conduce.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9626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02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Sin trazabilidad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32826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No se confirma que cada viaje llegue a destino seguro.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8770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03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Tarifas arbitrarias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41970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Falta una referencia compartida de pago justo.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791456"/>
            <a:ext cx="594360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/>
            <a:r>
              <a:rPr sz="1700" b="1" i="0">
                <a:solidFill>
                  <a:srgbClr val="E6B820"/>
                </a:solidFill>
                <a:latin typeface="Arial"/>
              </a:rPr>
              <a:t>04  </a:t>
            </a:r>
            <a:r>
              <a:rPr sz="1800" b="1" i="0">
                <a:solidFill>
                  <a:srgbClr val="0B7238"/>
                </a:solidFill>
                <a:latin typeface="Arial"/>
              </a:rPr>
              <a:t>Riesgo diferenciado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5111496"/>
            <a:ext cx="5330952" cy="45720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F6B65"/>
                </a:solidFill>
                <a:latin typeface="Arial"/>
              </a:rPr>
              <a:t>La percepción de inseguridad aumenta para estudiantes mujeres.</a:t>
            </a:r>
          </a:p>
        </p:txBody>
      </p:sp>
    </p:spTree>
    <p:extLst>
      <p:ext uri="{BB962C8B-B14F-4D97-AF65-F5344CB8AC3E}">
        <p14:creationId xmlns:p14="http://schemas.microsoft.com/office/powerpoint/2010/main" val="138235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4E7D0-E745-539E-0B69-8AC9868C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6723D4-A6C2-E209-9409-975908AE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sz="1100" b="1">
                <a:solidFill>
                  <a:srgbClr val="5F6B65"/>
                </a:solidFill>
                <a:latin typeface="Arial"/>
              </a:rPr>
              <a:t>2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5BED237-17E3-4699-3A97-3598ED162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12" y="1159344"/>
            <a:ext cx="9500550" cy="5296740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924C1051-B0F5-1AD9-7398-1CA3721DC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68" y="265336"/>
            <a:ext cx="8803754" cy="995293"/>
          </a:xfrm>
        </p:spPr>
        <p:txBody>
          <a:bodyPr wrap="square"/>
          <a:lstStyle/>
          <a:p>
            <a:r>
              <a:rPr lang="en-US" sz="6000" dirty="0" err="1">
                <a:solidFill>
                  <a:srgbClr val="0B7238"/>
                </a:solidFill>
                <a:latin typeface="Arial"/>
              </a:rPr>
              <a:t>Evidencia</a:t>
            </a:r>
            <a:r>
              <a:rPr lang="en-US" sz="6000" dirty="0">
                <a:solidFill>
                  <a:srgbClr val="0B7238"/>
                </a:solidFill>
                <a:latin typeface="Arial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9978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Un sistema que formaliza la relación estudiante–motorista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4297680" cy="2743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55648"/>
            <a:ext cx="4069080" cy="19202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r>
              <a:rPr sz="2400" b="1">
                <a:solidFill>
                  <a:srgbClr val="182E26"/>
                </a:solidFill>
                <a:latin typeface="Arial"/>
              </a:rPr>
              <a:t>Diseñar un sistema de confianza y trazabilidad para formalizar la relación estudiante–motorista dentro del campus.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3886200" cy="93268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F6B65"/>
                </a:solidFill>
                <a:latin typeface="Arial"/>
              </a:rPr>
              <a:t>La solución integra identidad, registro de viajes, reputación y pagos justos.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81728" y="1325880"/>
            <a:ext cx="0" cy="4343400"/>
          </a:xfrm>
          <a:prstGeom prst="line">
            <a:avLst/>
          </a:prstGeom>
          <a:ln w="381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10912" y="135331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71600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Verificación de motoristas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7393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Validar identificación, placa y SOAT vigente antes de permitir viajes.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281635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834640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Trazabilidad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23697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Registrar origen, destino, hora y confirmación de llegada.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4279392"/>
            <a:ext cx="640080" cy="5029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6B82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297679"/>
            <a:ext cx="51663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Reputación y 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700016"/>
            <a:ext cx="4983480" cy="69494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Calificación de 1 a 5 y comentarios vinculados a cada viaje.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Alcance enfocado en confianza, trazabilidad y pago justo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25880"/>
            <a:ext cx="438912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INCLUYE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746504"/>
            <a:ext cx="5074920" cy="0"/>
          </a:xfrm>
          <a:prstGeom prst="line">
            <a:avLst/>
          </a:prstGeom>
          <a:ln w="25400">
            <a:solidFill>
              <a:srgbClr val="0B7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1901952"/>
            <a:ext cx="4983480" cy="361188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Modelo de dominio con 5 entidades.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Verificación documental: identificación, placa y SOAT.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Registro de solicitud, inicio, fin y llegada segura.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Calificación y reputación por viaje.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Tarifa acordada y estado de pago.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Arquitectura en capas: modelo, servicio, persistencia y vista.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88736" y="1298448"/>
            <a:ext cx="0" cy="4343400"/>
          </a:xfrm>
          <a:prstGeom prst="line">
            <a:avLst/>
          </a:prstGeom>
          <a:ln w="19050">
            <a:solidFill>
              <a:srgbClr val="9A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99632" y="1325880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23A3A"/>
                </a:solidFill>
                <a:latin typeface="Arial"/>
              </a:rPr>
              <a:t>NO INCLUYE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9632" y="1746504"/>
            <a:ext cx="4572000" cy="0"/>
          </a:xfrm>
          <a:prstGeom prst="line">
            <a:avLst/>
          </a:prstGeom>
          <a:ln w="25400">
            <a:solidFill>
              <a:srgbClr val="B2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99632" y="1901952"/>
            <a:ext cx="4572000" cy="2103120"/>
          </a:xfrm>
          <a:prstGeom prst="rect">
            <a:avLst/>
          </a:prstGeom>
          <a:noFill/>
        </p:spPr>
        <p:txBody>
          <a:bodyPr wrap="square" lIns="18288" tIns="18288" rIns="18288" bIns="18288"/>
          <a:lstStyle/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Aplicación móvil nativa para iOS o Android.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Pasarela de pagos electrónicos real.</a:t>
            </a:r>
          </a:p>
          <a:p>
            <a:pPr>
              <a:lnSpc>
                <a:spcPct val="100000"/>
              </a:lnSpc>
              <a:spcAft>
                <a:spcPts val="1500"/>
              </a:spcAft>
            </a:pPr>
            <a:r>
              <a:rPr sz="1600">
                <a:solidFill>
                  <a:srgbClr val="182E26"/>
                </a:solidFill>
                <a:latin typeface="Arial"/>
              </a:rPr>
              <a:t>• Optimización de rutas o despacho automático.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4434840"/>
            <a:ext cx="4389120" cy="7772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B7238"/>
                </a:solidFill>
                <a:latin typeface="Arial"/>
              </a:rPr>
              <a:t>El alcance prioriza un prototipo académico verificable y extensible.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5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5A41A258-5868-DC32-E95C-8DB2145F2553}"/>
              </a:ext>
            </a:extLst>
          </p:cNvPr>
          <p:cNvSpPr txBox="1">
            <a:spLocks/>
          </p:cNvSpPr>
          <p:nvPr/>
        </p:nvSpPr>
        <p:spPr>
          <a:xfrm>
            <a:off x="483768" y="417736"/>
            <a:ext cx="8803754" cy="9952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R="0" lvl="0" algn="l" defTabSz="60963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  <a:defRPr sz="2400" b="1" i="0" u="none" strike="noStrike" kern="1200" cap="none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en-US" sz="3000" dirty="0">
                <a:solidFill>
                  <a:srgbClr val="0B7238"/>
                </a:solidFill>
                <a:latin typeface="Arial"/>
              </a:rPr>
              <a:t>DIAGRAMA UML (SE PUEDE MEJORAR)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17EF45E-E4F2-C48D-674D-B40B618B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63" y="1007708"/>
            <a:ext cx="9638271" cy="5295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Cinco entidades reparten identidad, operación, reputación y pago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5331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Entidad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Propósito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Atributos clave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Responsabilidad principal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Estudiante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Solicita el servicio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código, nombre, teléfono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Solicitar viaje y confirmar llegada segura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Motorista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Proveedor verificado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identificación, placa, SOAT vigente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Aceptar viaje y verificar documentos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Viaje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Transacción núcleo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código, origen, destino, tarifa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Calcular tarifa; iniciar y finalizar viaje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Calificación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Reputación y seguridad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puntaje (1–5), comentario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Registrar evaluación y consultar reputación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Pago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Formalización económica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valor, estado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Registrar y confirmar pago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La Universidad regula condiciones de seguridad, no legaliza el servicio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480060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TUCANGO SÍ HACE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9632" y="1298448"/>
            <a:ext cx="46634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23A3A"/>
                </a:solidFill>
                <a:latin typeface="Arial"/>
              </a:rPr>
              <a:t>TUCANGO NO HACE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70448" y="1234440"/>
            <a:ext cx="0" cy="4251960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76072" y="18105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1051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Verifica documentos, placa y SOAT dentro del campus.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8105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81051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Legaliza el transporte público en motocicleta.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247802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99632" y="247802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2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3347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 la trazabilidad completa de cada viaje.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63347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Opera fuera del ámbito universitario.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330098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99632" y="330098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6072" y="345643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45643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Genera reputación mediante calificaciones.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45643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45643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Sustituye a la autoridad de tránsito.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4123944"/>
            <a:ext cx="4919472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99632" y="4123944"/>
            <a:ext cx="46177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6072" y="4279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7238"/>
                </a:solidFill>
                <a:latin typeface="Arial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279392"/>
            <a:ext cx="452628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Registra la tarifa acordada y el estado del pago.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279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B23A3A"/>
                </a:solidFill>
                <a:latin typeface="Arial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279392"/>
            <a:ext cx="4251960" cy="56692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82E26"/>
                </a:solidFill>
                <a:latin typeface="Arial"/>
              </a:rPr>
              <a:t>Procesa pagos electrónicos reales.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76088"/>
            <a:ext cx="1691640" cy="24688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7238"/>
                </a:solidFill>
                <a:latin typeface="Arial"/>
              </a:rPr>
              <a:t>BASE NORMATIVA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9512"/>
            <a:ext cx="8869680" cy="62179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F6B65"/>
                </a:solidFill>
                <a:latin typeface="Arial"/>
              </a:rPr>
              <a:t>Ley 336 de 1996 y Decreto 1079 de 2015: marco nacional de transporte. Ley 30 de 1992: autonomía universitaria para regular condiciones dentro del campus.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Stack simple para construir, probar y evolucionar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LENGUAJE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298448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Java · Programación Orientada a Objetos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746504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883664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JDK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883664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21 · Microsoft OpenJDK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2331720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2468880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468880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Apache NetBeans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916936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3054096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054096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Apache Ant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3502152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3639312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VERSIÓN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639312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Git + GitHub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4087368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4224528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MODELADO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224528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UML · Mermaid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4672584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4809744"/>
            <a:ext cx="132588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809744"/>
            <a:ext cx="3749039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JUnit · planificado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5257800"/>
            <a:ext cx="5074920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16168" y="1261872"/>
            <a:ext cx="0" cy="4315968"/>
          </a:xfrm>
          <a:prstGeom prst="line">
            <a:avLst/>
          </a:prstGeom>
          <a:ln w="254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36208" y="1316736"/>
            <a:ext cx="429768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7238"/>
                </a:solidFill>
                <a:latin typeface="Arial"/>
              </a:rPr>
              <a:t>ARQUITECTURA EN CAPAS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1847088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VISTA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Interfaz de consola / menú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688336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SERVICIO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Gestión de viajes y validaciones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3529584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9AA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PERSISTENCIA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Archivos o base de datos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4370832"/>
            <a:ext cx="4315968" cy="621792"/>
          </a:xfrm>
          <a:prstGeom prst="rect">
            <a:avLst/>
          </a:prstGeom>
          <a:solidFill>
            <a:srgbClr val="FFFFFF"/>
          </a:solidFill>
          <a:ln w="16510">
            <a:solidFill>
              <a:srgbClr val="0B7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500" b="1">
                <a:solidFill>
                  <a:srgbClr val="0B7238"/>
                </a:solidFill>
                <a:latin typeface="Arial"/>
              </a:rPr>
              <a:t>MODELO</a:t>
            </a:r>
          </a:p>
          <a:p>
            <a:pPr algn="l">
              <a:spcBef>
                <a:spcPts val="300"/>
              </a:spcBef>
            </a:pPr>
            <a:r>
              <a:rPr sz="1400">
                <a:solidFill>
                  <a:srgbClr val="182E26"/>
                </a:solidFill>
                <a:latin typeface="Arial"/>
              </a:rPr>
              <a:t>Cinco entidades del dominio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5349240"/>
            <a:ext cx="4315968" cy="43891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La estructura separa responsabilidades y permite crecer por etapas.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Cuatro roles complementarios cubren el ciclo del proyecto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1298448"/>
            <a:ext cx="489204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INTEGRANTE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0920" y="1298448"/>
            <a:ext cx="33832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ROL PRINCIPAL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64208"/>
            <a:ext cx="10241279" cy="0"/>
          </a:xfrm>
          <a:prstGeom prst="line">
            <a:avLst/>
          </a:prstGeom>
          <a:ln w="25400">
            <a:solidFill>
              <a:srgbClr val="0B72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1847088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47088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Jhonatan Alexander Saavedra Culma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847088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Líder · Modelado UML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542032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788920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788920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Gian Marco Castañeda Samboni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788920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Backend Java · Lógica de negocio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3483863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3730752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30752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Andrés David Pinilla Parra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730752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Persistencia · Pruebas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4425696"/>
            <a:ext cx="10241279" cy="0"/>
          </a:xfrm>
          <a:prstGeom prst="line">
            <a:avLst/>
          </a:prstGeom>
          <a:ln w="12700">
            <a:solidFill>
              <a:srgbClr val="EEF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4672583"/>
            <a:ext cx="54864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6B820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672583"/>
            <a:ext cx="5303520" cy="41148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2E26"/>
                </a:solidFill>
                <a:latin typeface="Arial"/>
              </a:rPr>
              <a:t>Juan Guillermo Ferrer Gasca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672583"/>
            <a:ext cx="3383280" cy="5486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F6B65"/>
                </a:solidFill>
                <a:latin typeface="Arial"/>
              </a:rPr>
              <a:t>Documentación · Arquitectura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650992"/>
            <a:ext cx="8503920" cy="292608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Equipo multidisciplinario para modelar, implementar, probar y comunicar.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El proyecto avanza del dominio a una entrega integrable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96112" y="1463040"/>
            <a:ext cx="0" cy="4251960"/>
          </a:xfrm>
          <a:prstGeom prst="line">
            <a:avLst/>
          </a:prstGeom>
          <a:ln w="19050">
            <a:solidFill>
              <a:srgbClr val="9AA5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49808" y="1408175"/>
            <a:ext cx="292608" cy="292608"/>
          </a:xfrm>
          <a:prstGeom prst="ellipse">
            <a:avLst/>
          </a:prstGeom>
          <a:solidFill>
            <a:srgbClr val="0B72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13533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130759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Modelo de dominio UML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0759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5 entidades, asociaciones y multiplicidades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133502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COMPLETADO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048256"/>
            <a:ext cx="292608" cy="292608"/>
          </a:xfrm>
          <a:prstGeom prst="ellipse">
            <a:avLst/>
          </a:prstGeom>
          <a:solidFill>
            <a:srgbClr val="E6B8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199339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B82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94767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Implementación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4767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5 clases en src/modelo/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97510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E6B820"/>
                </a:solidFill>
                <a:latin typeface="Arial"/>
              </a:rPr>
              <a:t>EN PROGRESO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68833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263347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258775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servicio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8775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Gestión de viajes y validaciones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1518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328415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1288" y="327355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322783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persistencia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2783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Almacenamiento en archivos o 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255263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396849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391363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386791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Capa de vista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386791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Consola y menú interactivo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89534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4608576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61288" y="4553712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81912" y="4507992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Pruebas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507992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JUnit e integración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535424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  <p:sp>
        <p:nvSpPr>
          <p:cNvPr id="35" name="Oval 34"/>
          <p:cNvSpPr/>
          <p:nvPr/>
        </p:nvSpPr>
        <p:spPr>
          <a:xfrm>
            <a:off x="749808" y="5248655"/>
            <a:ext cx="292608" cy="292608"/>
          </a:xfrm>
          <a:prstGeom prst="ellipse">
            <a:avLst/>
          </a:prstGeom>
          <a:solidFill>
            <a:srgbClr val="9AA59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5193791"/>
            <a:ext cx="32004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AA59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1912" y="5148071"/>
            <a:ext cx="3063240" cy="28346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E26"/>
                </a:solidFill>
                <a:latin typeface="Arial"/>
              </a:rPr>
              <a:t>Entrega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5148071"/>
            <a:ext cx="4480560" cy="30175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F6B65"/>
                </a:solidFill>
                <a:latin typeface="Arial"/>
              </a:rPr>
              <a:t>Empaquetado y documentación técnica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175503"/>
            <a:ext cx="15544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9AA59F"/>
                </a:solidFill>
                <a:latin typeface="Arial"/>
              </a:rPr>
              <a:t>PLANIFICADA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8B87F-7704-4D91-086C-AFF2F7CC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Cuatro entregables convierten el modelo en evidencia verificable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B22C4F8-0926-9EB5-227B-31BF71FB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89888"/>
          <a:ext cx="1101851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Artefacto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Ubicación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Descripción</a:t>
                      </a:r>
                    </a:p>
                  </a:txBody>
                  <a:tcPr marL="73152" marR="73152" anchor="ctr">
                    <a:solidFill>
                      <a:srgbClr val="0B7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Modelo UML v1.0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Docs/diagrama-uml-v1.0.md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5 clases, asociaciones, multiplicidades y checklist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Código fuente Java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src/co/edu/uniamazonia/logica2/modelo/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5 clases del dominio y arquitectura en capas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Documentación técnica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README.md · Docs/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Arquitectura, convenciones y roadmap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Presentación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Docs/presentacion-proyecto.pdf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82E26"/>
                          </a:solidFill>
                          <a:latin typeface="Arial"/>
                        </a:rPr>
                        <a:t>Síntesis del proyecto para exposición</a:t>
                      </a:r>
                    </a:p>
                  </a:txBody>
                  <a:tcPr marL="73152" marR="73152" anchor="ctr">
                    <a:solidFill>
                      <a:srgbClr val="EE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705856"/>
            <a:ext cx="10424160" cy="320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7238"/>
                </a:solidFill>
                <a:latin typeface="Arial"/>
              </a:rPr>
              <a:t>Todos los artefactos se consolidan en GitHub para trazabilidad del trabajo.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BE6714-41D5-990D-C32E-DD99BC1F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3000" b="1">
                <a:solidFill>
                  <a:srgbClr val="0B7238"/>
                </a:solidFill>
                <a:latin typeface="Arial"/>
              </a:rPr>
              <a:t>TUCANGO | CIERRE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2DDE2C-7753-C136-8F93-91455CCE4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sz="1100" b="1">
                <a:solidFill>
                  <a:srgbClr val="5F6B65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44752"/>
            <a:ext cx="6355080" cy="118872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7238"/>
                </a:solidFill>
                <a:latin typeface="Arial"/>
              </a:rPr>
              <a:t>Conectando seguridad,</a:t>
            </a:r>
            <a:br/>
            <a:r>
              <a:rPr sz="3400" b="1" i="0">
                <a:solidFill>
                  <a:srgbClr val="0B7238"/>
                </a:solidFill>
                <a:latin typeface="Arial"/>
              </a:rPr>
              <a:t>confianza y formalización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14032" y="1353312"/>
            <a:ext cx="0" cy="3611880"/>
          </a:xfrm>
          <a:prstGeom prst="line">
            <a:avLst/>
          </a:prstGeom>
          <a:ln w="50800">
            <a:solidFill>
              <a:srgbClr val="E6B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79792" y="1508760"/>
            <a:ext cx="3456432" cy="2606040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82E26"/>
                </a:solidFill>
                <a:latin typeface="Arial"/>
              </a:rPr>
              <a:t>“No modelamos para habilitar lo ilegal; modelamos para proteger a quien viaja y formalizar a quien conduce dentro de lo que la Universidad sí puede controlar.”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60520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517136"/>
            <a:ext cx="4663440" cy="32918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82E26"/>
                </a:solidFill>
                <a:latin typeface="Arial"/>
              </a:rPr>
              <a:t>github.com/Stellel-One/TucanGo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20640"/>
            <a:ext cx="1325880" cy="256032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7238"/>
                </a:solidFill>
                <a:latin typeface="Arial"/>
              </a:rPr>
              <a:t>Contacto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68112"/>
            <a:ext cx="5760720" cy="329184"/>
          </a:xfrm>
          <a:prstGeom prst="rect">
            <a:avLst/>
          </a:prstGeom>
          <a:noFill/>
        </p:spPr>
        <p:txBody>
          <a:bodyPr wrap="square" lIns="27432" tIns="27432" rIns="27432" bIns="27432" anchor="t"/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182E26"/>
                </a:solidFill>
                <a:latin typeface="Arial"/>
              </a:rPr>
              <a:t>Juan Guillermo Ferrer Gasca · Equipo TucanGo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5825</TotalTime>
  <Words>25</Words>
  <Application>Microsoft Office PowerPoint</Application>
  <PresentationFormat>Widescreen</PresentationFormat>
  <Paragraphs>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TUCANGO | PROYECTO</vt:lpstr>
      <vt:lpstr>El problema no es la movilidad; es la falta de confianza</vt:lpstr>
      <vt:lpstr>Evidencia:</vt:lpstr>
      <vt:lpstr>Un sistema que formaliza la relación estudiante–motorista</vt:lpstr>
      <vt:lpstr>Alcance enfocado en confianza, trazabilidad y pago justo</vt:lpstr>
      <vt:lpstr>PowerPoint Presentation</vt:lpstr>
      <vt:lpstr>Cinco entidades reparten identidad, operación, reputación y pago</vt:lpstr>
      <vt:lpstr>La Universidad regula condiciones de seguridad, no legaliza el servicio</vt:lpstr>
      <vt:lpstr>Stack simple para construir, probar y evolucionar</vt:lpstr>
      <vt:lpstr>Cuatro roles complementarios cubren el ciclo del proyecto</vt:lpstr>
      <vt:lpstr>El proyecto avanza del dominio a una entrega integrable</vt:lpstr>
      <vt:lpstr>Cuatro entregables convierten el modelo en evidencia verificable</vt:lpstr>
      <vt:lpstr>TUCANGO | 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Noris Jimon Marcano Navas</dc:creator>
  <cp:lastModifiedBy>WILDER ORLANDO MENESES GOMEZ</cp:lastModifiedBy>
  <cp:revision>137</cp:revision>
  <dcterms:created xsi:type="dcterms:W3CDTF">2024-10-07T14:59:10Z</dcterms:created>
  <dcterms:modified xsi:type="dcterms:W3CDTF">2026-09-08T01:23:20Z</dcterms:modified>
</cp:coreProperties>
</file>